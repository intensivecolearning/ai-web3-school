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2" r:id="rId6"/>
    <p:sldId id="258" r:id="rId7"/>
    <p:sldId id="259" r:id="rId8"/>
    <p:sldId id="260" r:id="rId9"/>
    <p:sldId id="261" r:id="rId10"/>
    <p:sldId id="283" r:id="rId11"/>
    <p:sldId id="284" r:id="rId12"/>
    <p:sldId id="285" r:id="rId13"/>
    <p:sldId id="286" r:id="rId14"/>
    <p:sldId id="296" r:id="rId15"/>
    <p:sldId id="297" r:id="rId16"/>
    <p:sldId id="298" r:id="rId17"/>
    <p:sldId id="294" r:id="rId18"/>
    <p:sldId id="295" r:id="rId19"/>
    <p:sldId id="293" r:id="rId20"/>
    <p:sldId id="269" r:id="rId21"/>
    <p:sldId id="300" r:id="rId22"/>
    <p:sldId id="275" r:id="rId23"/>
    <p:sldId id="299" r:id="rId24"/>
    <p:sldId id="276" r:id="rId25"/>
    <p:sldId id="277" r:id="rId26"/>
    <p:sldId id="278" r:id="rId27"/>
    <p:sldId id="301" r:id="rId28"/>
    <p:sldId id="279" r:id="rId29"/>
    <p:sldId id="280" r:id="rId30"/>
    <p:sldId id="281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Text 1"/>
          <p:cNvSpPr/>
          <p:nvPr/>
        </p:nvSpPr>
        <p:spPr>
          <a:xfrm>
            <a:off x="815519" y="1878965"/>
            <a:ext cx="2278380" cy="138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2DD4BF">
                    <a:alpha val="1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THINKING</a:t>
            </a:r>
            <a:endParaRPr lang="en-US" sz="3750" b="1" dirty="0">
              <a:solidFill>
                <a:srgbClr val="2DD4BF">
                  <a:alpha val="10000"/>
                </a:srgbClr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2DD4BF">
                    <a:alpha val="1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</a:t>
            </a:r>
            <a:endParaRPr lang="en-US" sz="3750" b="1" dirty="0">
              <a:solidFill>
                <a:srgbClr val="2DD4BF">
                  <a:alpha val="10000"/>
                </a:srgbClr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2DD4BF">
                    <a:alpha val="1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572000" y="1723067"/>
            <a:ext cx="4114800" cy="1261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AI时代，Web3开发者</a:t>
            </a:r>
            <a:endParaRPr lang="en-US" sz="28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需要更扎实的</a:t>
            </a:r>
            <a:endParaRPr lang="en-US" sz="28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基础知识与架构能力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0" y="3334680"/>
            <a:ext cx="3759835" cy="3130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Demonstration via a Payment System</a:t>
            </a:r>
            <a:endParaRPr lang="en-US" sz="1700" dirty="0">
              <a:solidFill>
                <a:srgbClr val="FFFFFF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469505" y="4429125"/>
            <a:ext cx="1022985" cy="4819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X: @Tc9926271334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V: Web3SecTc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Bilibili: Web3SecAnalysisT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Youtube: @Web3SecTc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Shape 1"/>
          <p:cNvSpPr/>
          <p:nvPr/>
        </p:nvSpPr>
        <p:spPr>
          <a:xfrm>
            <a:off x="628650" y="1500188"/>
            <a:ext cx="2857500" cy="2143125"/>
          </a:xfrm>
          <a:prstGeom prst="rect">
            <a:avLst/>
          </a:prstGeom>
          <a:solidFill>
            <a:srgbClr val="1A202C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650" y="1500188"/>
            <a:ext cx="2857500" cy="17145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6" name="Text 3"/>
          <p:cNvSpPr/>
          <p:nvPr/>
        </p:nvSpPr>
        <p:spPr>
          <a:xfrm>
            <a:off x="771525" y="1814513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2DD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manus-web3-init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71525" y="2021681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Initializing system thinking...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1525" y="2200275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2DD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&gt;&gt; AI Myths [Check]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71525" y="2378869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2DD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&gt;&gt; Payment Mainline [Ready]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71525" y="2557463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2DD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&gt;&gt; Capability Model [Load]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71525" y="2821781"/>
            <a:ext cx="25717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2DD4BF">
                    <a:alpha val="70851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_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0" y="814388"/>
            <a:ext cx="1247140" cy="4514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核心目录</a:t>
            </a:r>
            <a:endParaRPr lang="en-US" sz="2450" dirty="0"/>
          </a:p>
        </p:txBody>
      </p:sp>
      <p:sp>
        <p:nvSpPr>
          <p:cNvPr id="13" name="Shape 10"/>
          <p:cNvSpPr/>
          <p:nvPr/>
        </p:nvSpPr>
        <p:spPr>
          <a:xfrm>
            <a:off x="4572000" y="1668066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4" name="Text 11"/>
          <p:cNvSpPr/>
          <p:nvPr/>
        </p:nvSpPr>
        <p:spPr>
          <a:xfrm>
            <a:off x="4572000" y="1668066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86350" y="1614488"/>
            <a:ext cx="3101340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AI时代的常见误区——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经典粉丝问题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（～5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m）</a:t>
            </a:r>
            <a:endParaRPr lang="en-US" sz="12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86350" y="1871663"/>
            <a:ext cx="990600" cy="1098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重新审视技术底座与开发价值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572000" y="2346722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8" name="Text 15"/>
          <p:cNvSpPr/>
          <p:nvPr/>
        </p:nvSpPr>
        <p:spPr>
          <a:xfrm>
            <a:off x="4572000" y="2346722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86350" y="2293144"/>
            <a:ext cx="3920490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Web3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常见概念一览</a:t>
            </a:r>
            <a:r>
              <a:rPr lang="en-US" altLang="zh-CN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——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简单支付系统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设计为例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（～30m）</a:t>
            </a:r>
            <a:endParaRPr lang="en-US" altLang="zh-CN" sz="12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86350" y="2550319"/>
            <a:ext cx="1066800" cy="1098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从钱包、交易到后端的完整闭环</a:t>
            </a:r>
            <a:endParaRPr lang="en-US" sz="60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0" y="3025378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2" name="Text 19"/>
          <p:cNvSpPr/>
          <p:nvPr/>
        </p:nvSpPr>
        <p:spPr>
          <a:xfrm>
            <a:off x="4572000" y="3025378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86350" y="2971800"/>
            <a:ext cx="1943100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时代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的变与不变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（～10m）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86350" y="3228975"/>
            <a:ext cx="914400" cy="1098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工具进化下的工程系统本质</a:t>
            </a:r>
            <a:endParaRPr lang="en-US" sz="60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72000" y="3704034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6" name="Text 23"/>
          <p:cNvSpPr/>
          <p:nvPr/>
        </p:nvSpPr>
        <p:spPr>
          <a:xfrm>
            <a:off x="4572000" y="3704034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86350" y="3650456"/>
            <a:ext cx="1745615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架构师能力模型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（～5m）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86350" y="3907631"/>
            <a:ext cx="1066800" cy="1098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如何</a:t>
            </a:r>
            <a:r>
              <a:rPr lang="zh-CN" alt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</a:t>
            </a:r>
            <a:r>
              <a:rPr 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工具使用者</a:t>
            </a:r>
            <a:r>
              <a:rPr lang="zh-CN" alt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的角色上</a:t>
            </a:r>
            <a:r>
              <a:rPr lang="zh-CN" altLang="en-US" sz="6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提升</a:t>
            </a:r>
            <a:endParaRPr lang="zh-CN" altLang="en-US" sz="60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2"/>
          <p:cNvSpPr/>
          <p:nvPr/>
        </p:nvSpPr>
        <p:spPr>
          <a:xfrm>
            <a:off x="4572000" y="2196465"/>
            <a:ext cx="4114800" cy="903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时代常见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误区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——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经典粉丝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问题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Text 1"/>
          <p:cNvSpPr/>
          <p:nvPr/>
        </p:nvSpPr>
        <p:spPr>
          <a:xfrm>
            <a:off x="906145" y="2114550"/>
            <a:ext cx="2302510" cy="615950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人和</a:t>
            </a:r>
            <a:r>
              <a:rPr lang="en-US" altLang="zh-CN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的</a:t>
            </a:r>
            <a:r>
              <a:rPr lang="zh-CN" alt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协作边界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0" y="857250"/>
            <a:ext cx="4114800" cy="903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粉丝问题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1：有了AI，还需要学习基础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知识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吗？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572000" y="2114550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7" name="Text 4"/>
          <p:cNvSpPr/>
          <p:nvPr/>
        </p:nvSpPr>
        <p:spPr>
          <a:xfrm>
            <a:off x="4572000" y="2114550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14900" y="2114550"/>
            <a:ext cx="3048000" cy="1968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人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——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设计方案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评估方案合理性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验收代码执行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结果</a:t>
            </a:r>
            <a:endParaRPr lang="zh-CN" altLang="en-US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0" y="2514600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0" name="Text 7"/>
          <p:cNvSpPr/>
          <p:nvPr/>
        </p:nvSpPr>
        <p:spPr>
          <a:xfrm>
            <a:off x="4572000" y="2514600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14900" y="2514600"/>
            <a:ext cx="3546475" cy="1968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AI——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协助人设计方案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细化方案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，</a:t>
            </a:r>
            <a:r>
              <a:rPr lang="zh-CN" altLang="en-US" sz="1000" b="1" dirty="0">
                <a:solidFill>
                  <a:srgbClr val="FF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以及按方案执行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自测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验证</a:t>
            </a:r>
            <a:endParaRPr lang="zh-CN" altLang="en-US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0" y="2914650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3" name="Text 10"/>
          <p:cNvSpPr/>
          <p:nvPr/>
        </p:nvSpPr>
        <p:spPr>
          <a:xfrm>
            <a:off x="4572000" y="2914650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14900" y="2914650"/>
            <a:ext cx="2835275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多</a:t>
            </a: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 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编码框架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自动化构建并测试整体代码</a:t>
            </a:r>
            <a:endParaRPr lang="zh-CN" altLang="en-US" sz="10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0" y="3486150"/>
            <a:ext cx="4114800" cy="800100"/>
          </a:xfrm>
          <a:prstGeom prst="rect">
            <a:avLst/>
          </a:prstGeom>
          <a:solidFill>
            <a:srgbClr val="1F2937">
              <a:alpha val="3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572000" y="3486150"/>
            <a:ext cx="28575" cy="80010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7" name="Text 14"/>
          <p:cNvSpPr/>
          <p:nvPr/>
        </p:nvSpPr>
        <p:spPr>
          <a:xfrm>
            <a:off x="4743450" y="3657600"/>
            <a:ext cx="3771900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</a:t>
            </a:r>
            <a:r>
              <a:rPr lang="zh-CN" altLang="en-US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如果基础知识和架构能力不足，</a:t>
            </a:r>
            <a:endParaRPr lang="zh-CN" altLang="en-US" sz="1050" i="1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zh-CN" altLang="en-US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就无法判断</a:t>
            </a:r>
            <a:r>
              <a:rPr lang="en-US" altLang="zh-CN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</a:t>
            </a:r>
            <a:r>
              <a:rPr lang="zh-CN" altLang="en-US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端上桌的是屎山还是珍馐</a:t>
            </a:r>
            <a:r>
              <a:rPr lang="en-US" sz="10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Text 1"/>
          <p:cNvSpPr/>
          <p:nvPr/>
        </p:nvSpPr>
        <p:spPr>
          <a:xfrm>
            <a:off x="1700213" y="1285875"/>
            <a:ext cx="71437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0088" y="2464594"/>
            <a:ext cx="71437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Logic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700338" y="2464594"/>
            <a:ext cx="71437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700213" y="3643313"/>
            <a:ext cx="71437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0" y="421481"/>
            <a:ext cx="4114800" cy="903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粉丝问题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2：Web3和Web2是完全不同的世界吗？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4572000" y="2250281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0" y="2432526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4" name="Text 11"/>
          <p:cNvSpPr/>
          <p:nvPr/>
        </p:nvSpPr>
        <p:spPr>
          <a:xfrm>
            <a:off x="4572000" y="2432526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14900" y="2432526"/>
            <a:ext cx="33655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真相：Web3 是更严格的工程系统，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且和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web2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并不完全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独立</a:t>
            </a:r>
            <a:endParaRPr lang="zh-CN" altLang="en-US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14900" y="2661126"/>
            <a:ext cx="3771900" cy="275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 对分布式系统、一致性与安全性提出了更严苛要求的工程演进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zh-CN" altLang="en-US" sz="70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altLang="zh-CN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 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大部分</a:t>
            </a:r>
            <a:r>
              <a:rPr lang="en-US" altLang="zh-CN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web3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项目中</a:t>
            </a:r>
            <a:r>
              <a:rPr lang="en-US" altLang="zh-CN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web2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能力的占比仍然不低</a:t>
            </a:r>
            <a:r>
              <a:rPr lang="en-US" altLang="zh-CN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——cex, polymarket, defi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项目</a:t>
            </a:r>
            <a:r>
              <a:rPr lang="zh-CN" altLang="en-US" sz="70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等</a:t>
            </a:r>
            <a:endParaRPr lang="zh-CN" altLang="en-US" sz="70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0" y="3404076"/>
            <a:ext cx="4114800" cy="814388"/>
          </a:xfrm>
          <a:prstGeom prst="rect">
            <a:avLst/>
          </a:prstGeom>
          <a:solidFill>
            <a:srgbClr val="1F2937">
              <a:alpha val="4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4572000" y="3404076"/>
            <a:ext cx="4114800" cy="14288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9" name="Text 16"/>
          <p:cNvSpPr/>
          <p:nvPr/>
        </p:nvSpPr>
        <p:spPr>
          <a:xfrm>
            <a:off x="4743450" y="3582670"/>
            <a:ext cx="3771900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核心洞察：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基础架构逻辑依然相通。</a:t>
            </a:r>
            <a:endParaRPr lang="en-US" sz="10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优秀的 Web3 开发者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首先必须是一个优秀的系统工程师。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Shape 1"/>
          <p:cNvSpPr/>
          <p:nvPr/>
        </p:nvSpPr>
        <p:spPr>
          <a:xfrm>
            <a:off x="1628775" y="2143125"/>
            <a:ext cx="857250" cy="857250"/>
          </a:xfrm>
          <a:prstGeom prst="rect">
            <a:avLst/>
          </a:prstGeom>
          <a:solidFill>
            <a:srgbClr val="2DD4B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2400300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0" y="710105"/>
            <a:ext cx="4114800" cy="723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粉丝问题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3：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“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安全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”可以</a:t>
            </a: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后续再考虑吗？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4572000" y="1761632"/>
            <a:ext cx="4114800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CN" alt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</a:t>
            </a:r>
            <a:r>
              <a:rPr lang="en-US" altLang="zh-CN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Web3</a:t>
            </a:r>
            <a:r>
              <a:rPr lang="zh-CN" alt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世界中</a:t>
            </a:r>
            <a:r>
              <a:rPr lang="en-US" altLang="zh-CN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由于直接和资金</a:t>
            </a:r>
            <a:r>
              <a:rPr lang="zh-CN" alt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交互的特性</a:t>
            </a:r>
            <a:r>
              <a:rPr lang="en-US" altLang="zh-CN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endParaRPr lang="en-US" altLang="zh-CN" sz="10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安全不是一个可以随时添加的“插件”，而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是</a:t>
            </a: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源于设计的核心属性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0" y="2540301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13" y="2640313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86350" y="2504582"/>
            <a:ext cx="2089547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“先跑起来再说”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086350" y="2747470"/>
            <a:ext cx="1925955" cy="1193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逻辑漏洞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和设计缺陷</a:t>
            </a: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 Web3 中意味着资产瞬间归零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572000" y="3183238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13" y="328325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6350" y="3147520"/>
            <a:ext cx="217170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“审计可以补”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086350" y="3390407"/>
            <a:ext cx="2840990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审计是最后防线，安全设计应该贯穿整个项目的生命周期。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大部分审计只是“心理安慰剂”和“合规通行证”，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安全本身不可证伪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只有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和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1.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572000" y="3937936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013" y="4037948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86350" y="4000007"/>
            <a:ext cx="2400300" cy="193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  <a:sym typeface="+mn-ea"/>
              </a:rPr>
              <a:t>无法解释系统行为，就无法保证资产安全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4563" y="250757"/>
            <a:ext cx="4714875" cy="4514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核心结论1：Web3工程系统的本质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57313" y="1279457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1393757"/>
            <a:ext cx="114300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1663" y="1279457"/>
            <a:ext cx="591502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没有降低系统复杂度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：它只是加速了代码堆砌，理解底层逻辑变得</a:t>
            </a:r>
            <a:r>
              <a:rPr lang="en-US" sz="1250" b="1" dirty="0">
                <a:solidFill>
                  <a:srgbClr val="FF000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前所未有的重要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。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357313" y="2022407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2136707"/>
            <a:ext cx="142875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71663" y="2022407"/>
            <a:ext cx="591502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不是新世界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：而是对分布式工程提出了更严苛的要求，</a:t>
            </a:r>
            <a:r>
              <a:rPr lang="en-US" sz="1250" b="1" dirty="0">
                <a:solidFill>
                  <a:srgbClr val="FF000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基础架构逻辑依然相通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。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357313" y="2765357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613" y="2879657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71663" y="2765357"/>
            <a:ext cx="591502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安全即理解力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：无法解释系统行为就无法保证安全，</a:t>
            </a:r>
            <a:r>
              <a:rPr lang="en-US" sz="1250" b="1" dirty="0">
                <a:solidFill>
                  <a:srgbClr val="FF000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安全应源于设计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而非补</a:t>
            </a:r>
            <a:r>
              <a:rPr lang="en-US" sz="1250" dirty="0">
                <a:solidFill>
                  <a:srgbClr val="E2E8F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丁。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914400" y="3994082"/>
            <a:ext cx="7315200" cy="89866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Shape 8"/>
          <p:cNvSpPr/>
          <p:nvPr/>
        </p:nvSpPr>
        <p:spPr>
          <a:xfrm>
            <a:off x="914400" y="3994082"/>
            <a:ext cx="7315200" cy="7144"/>
          </a:xfrm>
          <a:prstGeom prst="rect">
            <a:avLst/>
          </a:prstGeom>
          <a:solidFill>
            <a:srgbClr val="C0F2EC"/>
          </a:solidFill>
        </p:spPr>
      </p:sp>
      <p:sp>
        <p:nvSpPr>
          <p:cNvPr id="15" name="Text 9"/>
          <p:cNvSpPr/>
          <p:nvPr/>
        </p:nvSpPr>
        <p:spPr>
          <a:xfrm>
            <a:off x="1931670" y="4283404"/>
            <a:ext cx="5280660" cy="2921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"Web3 是更严格的</a:t>
            </a:r>
            <a:r>
              <a:rPr lang="en-US" sz="1600" i="1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分布式系统</a:t>
            </a:r>
            <a:r>
              <a:rPr lang="en-US" sz="17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，而非简单的</a:t>
            </a:r>
            <a:r>
              <a:rPr lang="zh-CN" altLang="en-US" sz="1600" i="1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功能</a:t>
            </a:r>
            <a:r>
              <a:rPr lang="en-US" sz="1600" i="1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堆砌</a:t>
            </a:r>
            <a:r>
              <a:rPr lang="en-US" sz="17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2"/>
          <p:cNvSpPr/>
          <p:nvPr/>
        </p:nvSpPr>
        <p:spPr>
          <a:xfrm>
            <a:off x="4356100" y="2196465"/>
            <a:ext cx="4572635" cy="903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常见概念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一览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——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简单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支付系统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设计为例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86325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1"/>
          <p:cNvSpPr/>
          <p:nvPr/>
        </p:nvSpPr>
        <p:spPr>
          <a:xfrm>
            <a:off x="5029200" y="732234"/>
            <a:ext cx="335153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最简单的</a:t>
            </a:r>
            <a:r>
              <a:rPr lang="en-US" altLang="zh-CN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web2</a:t>
            </a: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支付服务模型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029200" y="1296591"/>
            <a:ext cx="2238375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Bank Transfer </a:t>
            </a:r>
            <a:r>
              <a:rPr 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Payment Model</a:t>
            </a:r>
            <a:endParaRPr lang="en-US" sz="1250" dirty="0">
              <a:solidFill>
                <a:srgbClr val="CBD5E0"/>
              </a:solidFill>
              <a:latin typeface="Inter" panose="020B0502030000000004" charset="0"/>
              <a:ea typeface="Inter" panose="020B0502030000000004" pitchFamily="34" charset="-122"/>
              <a:cs typeface="Inter" panose="020B0502030000000004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0" y="1782366"/>
            <a:ext cx="3657600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尽量屏蔽支付行业的专有名词和流程</a:t>
            </a:r>
            <a:r>
              <a:rPr lang="en-US" altLang="zh-CN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简化</a:t>
            </a: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模型</a:t>
            </a:r>
            <a:endParaRPr lang="zh-CN" altLang="en-US" sz="1050" dirty="0">
              <a:solidFill>
                <a:srgbClr val="E2E8F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0" y="249674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9" name="Text 5"/>
          <p:cNvSpPr/>
          <p:nvPr/>
        </p:nvSpPr>
        <p:spPr>
          <a:xfrm>
            <a:off x="5029200" y="249674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29250" y="2468166"/>
            <a:ext cx="282892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请求流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：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支付是怎么完成的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？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总共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个对象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电商平台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支付服务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bank institution。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029200" y="3053953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2" name="Text 8"/>
          <p:cNvSpPr/>
          <p:nvPr/>
        </p:nvSpPr>
        <p:spPr>
          <a:xfrm>
            <a:off x="5029200" y="3053953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29250" y="3025378"/>
            <a:ext cx="2957513" cy="41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资金流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：</a:t>
            </a:r>
            <a:r>
              <a:rPr lang="zh-CN" alt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钱是怎么流转的</a:t>
            </a:r>
            <a:r>
              <a:rPr lang="en-US" altLang="zh-CN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？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
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最早在用户的银行账户中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然后到“支付服务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tc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”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控制的银行账户中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然后定期清结算资金给到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xxx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电商平台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029200" y="371467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1"/>
          <p:cNvSpPr/>
          <p:nvPr/>
        </p:nvSpPr>
        <p:spPr>
          <a:xfrm>
            <a:off x="5029200" y="371467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29250" y="3686175"/>
            <a:ext cx="3126105" cy="7092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安全检查点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：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系统中有哪些重点场景需要安全考量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？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服务之间：相互notify的认证，apiKey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用户支付：支付密码，mfa等信息的使用和验证。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潜在的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服务之间的信任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人和服务的信任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（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数据篡改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，fake authentication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等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）。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zh-CN" altLang="en-US" sz="9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029200" y="4376023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8" name="Text 14"/>
          <p:cNvSpPr/>
          <p:nvPr/>
        </p:nvSpPr>
        <p:spPr>
          <a:xfrm>
            <a:off x="5029200" y="4376023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29250" y="4347448"/>
            <a:ext cx="3214688" cy="41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钱包概念引入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用户的钱表面上是自己控制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实际上是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“bank institution”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控制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用户的钱只是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bank instituion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里的一堆记账数据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，alice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有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 USD, bob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有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 USD.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" y="1843405"/>
            <a:ext cx="4758055" cy="1842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86325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1"/>
          <p:cNvSpPr/>
          <p:nvPr/>
        </p:nvSpPr>
        <p:spPr>
          <a:xfrm>
            <a:off x="5029200" y="732234"/>
            <a:ext cx="259651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引入</a:t>
            </a:r>
            <a:r>
              <a:rPr lang="en-US" altLang="zh-CN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</a:t>
            </a: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资金的</a:t>
            </a: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收付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029200" y="1296591"/>
            <a:ext cx="3541395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“支付服务</a:t>
            </a:r>
            <a:r>
              <a:rPr lang="en-US" altLang="zh-CN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tc 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版本升级</a:t>
            </a:r>
            <a:r>
              <a:rPr lang="en-US" altLang="zh-CN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，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想扩展稳定币支付的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业务”</a:t>
            </a:r>
            <a:endParaRPr lang="zh-CN" altLang="en-US" sz="1250" dirty="0">
              <a:solidFill>
                <a:srgbClr val="CBD5E0"/>
              </a:solidFill>
              <a:latin typeface="Inter" panose="020B0502030000000004" charset="0"/>
              <a:ea typeface="Inter" panose="020B0502030000000004" pitchFamily="34" charset="-122"/>
              <a:cs typeface="Inter" panose="020B0502030000000004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0" y="1782366"/>
            <a:ext cx="3657600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需要有哪些改动</a:t>
            </a:r>
            <a:r>
              <a:rPr lang="en-US" altLang="zh-CN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？Web3</a:t>
            </a: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能力是怎么引入的</a:t>
            </a:r>
            <a:r>
              <a:rPr lang="en-US" altLang="zh-CN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？</a:t>
            </a:r>
            <a:endParaRPr lang="en-US" altLang="zh-CN" sz="1050" dirty="0">
              <a:solidFill>
                <a:srgbClr val="E2E8F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0" y="249674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9" name="Text 5"/>
          <p:cNvSpPr/>
          <p:nvPr/>
        </p:nvSpPr>
        <p:spPr>
          <a:xfrm>
            <a:off x="5029200" y="249674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29250" y="2468245"/>
            <a:ext cx="3215005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请求流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：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支付是怎么完成的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？</a:t>
            </a:r>
            <a:endParaRPr lang="en-US" altLang="zh-CN" sz="9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bank instituion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替换成了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web3 block chain。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029200" y="3053953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2" name="Text 8"/>
          <p:cNvSpPr/>
          <p:nvPr/>
        </p:nvSpPr>
        <p:spPr>
          <a:xfrm>
            <a:off x="5029200" y="3053953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29250" y="3025378"/>
            <a:ext cx="2957513" cy="41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资金流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：</a:t>
            </a:r>
            <a:r>
              <a:rPr lang="zh-CN" altLang="en-US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钱是怎么流转的</a:t>
            </a:r>
            <a:r>
              <a:rPr lang="en-US" altLang="zh-CN" sz="9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？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
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最早在用户自己的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web3 account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中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然后到“支付服务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tc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”控制的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deposit account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中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然后定期清结算资金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最终给到电商平台的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web3 account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029200" y="371467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1"/>
          <p:cNvSpPr/>
          <p:nvPr/>
        </p:nvSpPr>
        <p:spPr>
          <a:xfrm>
            <a:off x="5029200" y="371467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29250" y="3686096"/>
            <a:ext cx="2957513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Web3 Block Chain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的定位</a:t>
            </a:r>
            <a:endParaRPr lang="zh-CN" altLang="en-US" sz="9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1 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另一个形式的bank institution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 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各种链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各种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Layer1, Layer2, 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可以简单理解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为各个不同的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bank institution.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" y="3205480"/>
            <a:ext cx="4794885" cy="157924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" y="643255"/>
            <a:ext cx="4789170" cy="1854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86325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1"/>
          <p:cNvSpPr/>
          <p:nvPr/>
        </p:nvSpPr>
        <p:spPr>
          <a:xfrm>
            <a:off x="5029200" y="732234"/>
            <a:ext cx="314198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Block Chain</a:t>
            </a:r>
            <a:r>
              <a:rPr lang="zh-CN" alt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的信任</a:t>
            </a:r>
            <a:endParaRPr lang="zh-CN" altLang="en-US" sz="210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029200" y="1296591"/>
            <a:ext cx="406019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“以前是信任</a:t>
            </a:r>
            <a:r>
              <a:rPr lang="en-US" altLang="zh-CN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Bank Institution(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权威</a:t>
            </a:r>
            <a:r>
              <a:rPr lang="en-US" altLang="zh-CN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), 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现在是去中心化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信任”</a:t>
            </a:r>
            <a:endParaRPr lang="zh-CN" altLang="en-US" sz="1250" dirty="0">
              <a:solidFill>
                <a:srgbClr val="CBD5E0"/>
              </a:solidFill>
              <a:latin typeface="Inter" panose="020B0502030000000004" charset="0"/>
              <a:ea typeface="Inter" panose="020B0502030000000004" pitchFamily="34" charset="-122"/>
              <a:cs typeface="Inter" panose="020B0502030000000004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0" y="249674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9" name="Text 5"/>
          <p:cNvSpPr/>
          <p:nvPr/>
        </p:nvSpPr>
        <p:spPr>
          <a:xfrm>
            <a:off x="5029200" y="249674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29250" y="2513965"/>
            <a:ext cx="3215005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数据不可篡改</a:t>
            </a:r>
            <a:endParaRPr lang="zh-CN" altLang="en-US" sz="9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029200" y="3053953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2" name="Text 8"/>
          <p:cNvSpPr/>
          <p:nvPr/>
        </p:nvSpPr>
        <p:spPr>
          <a:xfrm>
            <a:off x="5029200" y="3053953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29250" y="3081258"/>
            <a:ext cx="2957513" cy="1657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逻辑即代码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, 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公开透明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（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合约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-&gt; 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类比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python interpreter）</a:t>
            </a:r>
            <a:endParaRPr lang="en-US" altLang="zh-CN" sz="9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029200" y="3714671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1"/>
          <p:cNvSpPr/>
          <p:nvPr/>
        </p:nvSpPr>
        <p:spPr>
          <a:xfrm>
            <a:off x="5029200" y="3714671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29250" y="3686096"/>
            <a:ext cx="2957513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不同的共识协议</a:t>
            </a:r>
            <a:r>
              <a:rPr lang="en-US" altLang="zh-CN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 —— 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信任</a:t>
            </a: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  <a:sym typeface="+mn-ea"/>
              </a:rPr>
              <a:t>模型</a:t>
            </a:r>
            <a:endParaRPr lang="zh-CN" altLang="en-US" sz="9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POW, POS, DPOS, POH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等等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  <a:sym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029200" y="4256008"/>
            <a:ext cx="257175" cy="257175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8" name="Text 14"/>
          <p:cNvSpPr/>
          <p:nvPr/>
        </p:nvSpPr>
        <p:spPr>
          <a:xfrm>
            <a:off x="5029200" y="4256008"/>
            <a:ext cx="257175" cy="257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29250" y="4227433"/>
            <a:ext cx="3214688" cy="41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本质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en-US" sz="6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1 </a:t>
            </a:r>
            <a:r>
              <a:rPr lang="zh-CN" altLang="en-US" sz="6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执</a:t>
            </a:r>
            <a:r>
              <a:rPr lang="en-US" sz="6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行Smart </a:t>
            </a:r>
            <a:r>
              <a:rPr lang="en-US" sz="6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Contract代码，将旧状态转换为新状态的计算引擎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 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通过用户的私钥签名进行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鉴权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4" name="Text 6"/>
          <p:cNvSpPr/>
          <p:nvPr/>
        </p:nvSpPr>
        <p:spPr>
          <a:xfrm>
            <a:off x="4979035" y="1986926"/>
            <a:ext cx="4114800" cy="2260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区块链不</a:t>
            </a:r>
            <a:r>
              <a:rPr lang="zh-CN" alt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止</a:t>
            </a: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是数据库，</a:t>
            </a:r>
            <a:r>
              <a:rPr lang="zh-CN" alt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还</a:t>
            </a: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是一个</a:t>
            </a:r>
            <a:r>
              <a:rPr lang="en-US" sz="11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全球共享的、确定的状</a:t>
            </a:r>
            <a:r>
              <a:rPr lang="en-US" sz="11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态机</a:t>
            </a: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sz="115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" y="1965325"/>
            <a:ext cx="4666615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577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2"/>
          <p:cNvSpPr/>
          <p:nvPr/>
        </p:nvSpPr>
        <p:spPr>
          <a:xfrm>
            <a:off x="4572000" y="434373"/>
            <a:ext cx="4114800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钱包本质：不仅仅是一个App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572000" y="1691673"/>
            <a:ext cx="4114800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钱包在 Web3 中扮演着</a:t>
            </a:r>
            <a:r>
              <a:rPr lang="en-US" sz="11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身份与资产管理</a:t>
            </a: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的双重角色，它是</a:t>
            </a: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用户主权的具象化体现。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0" y="2434596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506033"/>
            <a:ext cx="85725" cy="85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14900" y="2423182"/>
            <a:ext cx="2200275" cy="2514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私钥管理</a:t>
            </a: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：对资产的绝对控制权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0" y="2857500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928938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4900" y="2846087"/>
            <a:ext cx="2828925" cy="2514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签名能力</a:t>
            </a: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：与区块链交互的唯一合法身份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0" y="3280404"/>
            <a:ext cx="228600" cy="2286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795" y="3351842"/>
            <a:ext cx="75009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4900" y="3268991"/>
            <a:ext cx="2714625" cy="2514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核心价值</a:t>
            </a:r>
            <a:r>
              <a:rPr lang="en-US" sz="11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：通往 Web3 世界的唯一凭证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0" y="3863346"/>
            <a:ext cx="4114800" cy="845809"/>
          </a:xfrm>
          <a:prstGeom prst="rect">
            <a:avLst/>
          </a:prstGeom>
          <a:solidFill>
            <a:srgbClr val="1F2937">
              <a:alpha val="30000"/>
            </a:srgbClr>
          </a:solidFill>
        </p:spPr>
      </p:sp>
      <p:sp>
        <p:nvSpPr>
          <p:cNvPr id="17" name="Shape 11"/>
          <p:cNvSpPr/>
          <p:nvPr/>
        </p:nvSpPr>
        <p:spPr>
          <a:xfrm>
            <a:off x="4572000" y="3863346"/>
            <a:ext cx="28575" cy="845809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8" name="Text 12"/>
          <p:cNvSpPr/>
          <p:nvPr/>
        </p:nvSpPr>
        <p:spPr>
          <a:xfrm>
            <a:off x="4743450" y="4034796"/>
            <a:ext cx="3771900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“钱包不是存储资产的容器，而是管理开启资产大门钥匙的工具。”</a:t>
            </a:r>
            <a:endParaRPr lang="en-US" sz="1150" dirty="0"/>
          </a:p>
        </p:txBody>
      </p:sp>
      <p:sp>
        <p:nvSpPr>
          <p:cNvPr id="19" name="Text 2"/>
          <p:cNvSpPr/>
          <p:nvPr/>
        </p:nvSpPr>
        <p:spPr>
          <a:xfrm>
            <a:off x="4572000" y="1221026"/>
            <a:ext cx="191643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20000"/>
              </a:lnSpc>
              <a:buNone/>
            </a:pP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“用户如何控制自己的</a:t>
            </a:r>
            <a:r>
              <a:rPr lang="zh-CN" alt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资产”</a:t>
            </a:r>
            <a:endParaRPr lang="zh-CN" altLang="en-US" sz="1250" dirty="0">
              <a:solidFill>
                <a:srgbClr val="CBD5E0"/>
              </a:solidFill>
              <a:latin typeface="Inter" panose="020B0502030000000004" charset="0"/>
              <a:ea typeface="Inter" panose="020B0502030000000004" pitchFamily="34" charset="-122"/>
              <a:cs typeface="Inter" panose="020B0502030000000004" pitchFamily="34" charset="-12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5" y="1388110"/>
            <a:ext cx="4385945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2849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Shape 2"/>
          <p:cNvSpPr/>
          <p:nvPr/>
        </p:nvSpPr>
        <p:spPr>
          <a:xfrm>
            <a:off x="557213" y="1071563"/>
            <a:ext cx="3000375" cy="2286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25" name="Text 22"/>
          <p:cNvSpPr/>
          <p:nvPr/>
        </p:nvSpPr>
        <p:spPr>
          <a:xfrm>
            <a:off x="4572000" y="826554"/>
            <a:ext cx="4114800" cy="4500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钱包类型：专业选型视角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4572000" y="1448060"/>
            <a:ext cx="41148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 Web3 开发中，选择合适的钱包架构是</a:t>
            </a:r>
            <a:r>
              <a:rPr lang="en-US" sz="9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安全与易用性权衡 (Trade-off)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的核心决策。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0" y="2109527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42" y="2209540"/>
            <a:ext cx="125016" cy="14287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57775" y="2163661"/>
            <a:ext cx="7620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实现原理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分类</a:t>
            </a:r>
            <a:endParaRPr lang="zh-CN" altLang="en-US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572000" y="2666740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942" y="2766752"/>
            <a:ext cx="125016" cy="14287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57775" y="2720873"/>
            <a:ext cx="7620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托管方式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分类</a:t>
            </a:r>
            <a:endParaRPr lang="zh-CN" altLang="en-US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4572000" y="3223952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153" y="3323965"/>
            <a:ext cx="178594" cy="14287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57775" y="3278086"/>
            <a:ext cx="375158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多签钱包 / 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硬件钱包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/ 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隐私钱包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(railgun) / </a:t>
            </a:r>
            <a:r>
              <a:rPr lang="zh-CN" alt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分层钱包</a:t>
            </a:r>
            <a:r>
              <a:rPr lang="en-US" altLang="zh-CN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(btc/toB) / ...</a:t>
            </a:r>
            <a:endParaRPr lang="en-US" altLang="zh-CN" sz="10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" y="1652270"/>
            <a:ext cx="432054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D3748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714500" y="2114550"/>
            <a:ext cx="11430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0" y="367903"/>
            <a:ext cx="3657600" cy="4500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钱包安全：第一道防线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5029200" y="960834"/>
            <a:ext cx="365760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0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嵌入式安全思维与风险防控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029200" y="1432322"/>
            <a:ext cx="36576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 Web3 中，安全不是插件，而是对系统的</a:t>
            </a: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深度理解能力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与资产保护的基石。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029200" y="2146697"/>
            <a:ext cx="285750" cy="28575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9" name="Text 5"/>
          <p:cNvSpPr/>
          <p:nvPr/>
        </p:nvSpPr>
        <p:spPr>
          <a:xfrm>
            <a:off x="5029200" y="2146697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0" y="2146697"/>
            <a:ext cx="320040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私钥泄露 (Key Leakage)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2411016"/>
            <a:ext cx="1485900" cy="1193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资产丢失具有不可逆性，私钥即是一切。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29200" y="2803922"/>
            <a:ext cx="285750" cy="28575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3" name="Text 9"/>
          <p:cNvSpPr/>
          <p:nvPr/>
        </p:nvSpPr>
        <p:spPr>
          <a:xfrm>
            <a:off x="5029200" y="2803922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0" y="2803922"/>
            <a:ext cx="320040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签名欺骗 (Phishing)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0" y="3068241"/>
            <a:ext cx="1485900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伪造交互意图，诱导用户签署恶意交易。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eip712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签名可视化</a:t>
            </a: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/eth_sign禁用</a:t>
            </a:r>
            <a:endParaRPr lang="zh-CN" altLang="en-US" sz="9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029200" y="3461147"/>
            <a:ext cx="285750" cy="28575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7" name="Text 13"/>
          <p:cNvSpPr/>
          <p:nvPr/>
        </p:nvSpPr>
        <p:spPr>
          <a:xfrm>
            <a:off x="5029200" y="3461147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0" y="3461147"/>
            <a:ext cx="320040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权限滥用 (Approve)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0" y="3725466"/>
            <a:ext cx="1568450" cy="1193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无限额度授权给恶意合约，导致资产被盗。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029200" y="4118372"/>
            <a:ext cx="285750" cy="28575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1" name="Text 17"/>
          <p:cNvSpPr/>
          <p:nvPr/>
        </p:nvSpPr>
        <p:spPr>
          <a:xfrm>
            <a:off x="5029200" y="4118372"/>
            <a:ext cx="285750" cy="2857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0" y="4118372"/>
            <a:ext cx="320040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安全结论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86400" y="4382691"/>
            <a:ext cx="1568450" cy="1193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无法解释系统行为，就无法保证资产安全。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0055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15" name="Text 7"/>
          <p:cNvSpPr/>
          <p:nvPr/>
        </p:nvSpPr>
        <p:spPr>
          <a:xfrm>
            <a:off x="4572000" y="915823"/>
            <a:ext cx="2820670" cy="3613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交易生命周期</a:t>
            </a:r>
            <a:endParaRPr lang="en-US" altLang="zh-CN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0" y="1555750"/>
            <a:ext cx="3905250" cy="206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理解 Web3 交易的底层逻辑，从</a:t>
            </a: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意图定义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到</a:t>
            </a: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全网共识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的完整路径。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4572000" y="2305980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420280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43500" y="2298836"/>
            <a:ext cx="287357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构造 (Construct)</a:t>
            </a:r>
            <a:endParaRPr lang="en-US" sz="1050" dirty="0"/>
          </a:p>
        </p:txBody>
      </p:sp>
      <p:sp>
        <p:nvSpPr>
          <p:cNvPr id="20" name="Text 11"/>
          <p:cNvSpPr/>
          <p:nvPr/>
        </p:nvSpPr>
        <p:spPr>
          <a:xfrm>
            <a:off x="5143500" y="2541724"/>
            <a:ext cx="2940050" cy="156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定义交互意图，封装 </a:t>
            </a:r>
            <a:r>
              <a:rPr lang="en-US" sz="8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to、Gas、Nonce 和 Data 等关键参数。</a:t>
            </a:r>
            <a:endParaRPr lang="en-US" sz="850" dirty="0"/>
          </a:p>
        </p:txBody>
      </p:sp>
      <p:sp>
        <p:nvSpPr>
          <p:cNvPr id="21" name="Shape 12"/>
          <p:cNvSpPr/>
          <p:nvPr/>
        </p:nvSpPr>
        <p:spPr>
          <a:xfrm>
            <a:off x="4572000" y="2948918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063218"/>
            <a:ext cx="171450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43500" y="2941774"/>
            <a:ext cx="297180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签名 (Sign)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5143500" y="3184661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使用私钥赋予交易法律与技术效力，确保所有权不可篡改。</a:t>
            </a:r>
            <a:endParaRPr lang="en-US" sz="850" dirty="0"/>
          </a:p>
        </p:txBody>
      </p:sp>
      <p:sp>
        <p:nvSpPr>
          <p:cNvPr id="25" name="Shape 15"/>
          <p:cNvSpPr/>
          <p:nvPr/>
        </p:nvSpPr>
        <p:spPr>
          <a:xfrm>
            <a:off x="4572000" y="3591855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16" y="3706155"/>
            <a:ext cx="150019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43500" y="3584711"/>
            <a:ext cx="3080742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anose="020B0502030000000004" charset="0"/>
                <a:ea typeface="Inter" panose="020B0502030000000004" pitchFamily="34" charset="-122"/>
                <a:cs typeface="Inter" panose="020B0502030000000004" pitchFamily="34" charset="-120"/>
              </a:rPr>
              <a:t>广播 (Broadcast)</a:t>
            </a:r>
            <a:endParaRPr lang="en-US" sz="1050" dirty="0"/>
          </a:p>
        </p:txBody>
      </p:sp>
      <p:sp>
        <p:nvSpPr>
          <p:cNvPr id="28" name="Text 17"/>
          <p:cNvSpPr/>
          <p:nvPr/>
        </p:nvSpPr>
        <p:spPr>
          <a:xfrm>
            <a:off x="5143500" y="3827599"/>
            <a:ext cx="308074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提交至网络节点，进入 Mempool 等待矿工打包与共识确认。</a:t>
            </a:r>
            <a:endParaRPr lang="en-US" sz="85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" y="1375410"/>
            <a:ext cx="4238625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0055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1"/>
          <p:cNvSpPr/>
          <p:nvPr/>
        </p:nvSpPr>
        <p:spPr>
          <a:xfrm>
            <a:off x="4572000" y="1294226"/>
            <a:ext cx="4114800" cy="361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Web3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交易</a:t>
            </a: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关键参数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4572000" y="2419750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534050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43500" y="2327774"/>
            <a:ext cx="35433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Gas: 系统的动力源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143500" y="2568876"/>
            <a:ext cx="354330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gas fee = gas count * gas price =&gt; paid by coin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tx gas/blob 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gas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eip1559: base fee/tip fee/max fee/...</a:t>
            </a:r>
            <a:endParaRPr lang="en-US" altLang="zh-CN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4572000" y="3146627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260927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43500" y="3140376"/>
            <a:ext cx="35433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Nonce: 顺序的守护者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143500" y="3381477"/>
            <a:ext cx="35433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防止重放攻击与交易乱序执行，确保账户状态变更的原子性。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evm/tron/btc/solana/...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572000" y="3787778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69" y="3902078"/>
            <a:ext cx="214313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3500" y="3781527"/>
            <a:ext cx="35433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Data: 智能合约的指令集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143500" y="4022629"/>
            <a:ext cx="3543300" cy="99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定义了复杂的业务逻辑与参数传递，是</a:t>
            </a:r>
            <a:r>
              <a:rPr lang="en-US" sz="650" b="1" dirty="0">
                <a:solidFill>
                  <a:srgbClr val="FF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链上应用交互的灵魂</a:t>
            </a: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" y="889000"/>
            <a:ext cx="4249420" cy="36937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0055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13" name="Text 10"/>
          <p:cNvSpPr/>
          <p:nvPr/>
        </p:nvSpPr>
        <p:spPr>
          <a:xfrm>
            <a:off x="4572000" y="1090678"/>
            <a:ext cx="2418715" cy="309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Web3 </a:t>
            </a:r>
            <a:r>
              <a:rPr lang="zh-CN" alt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交易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监听逻辑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572000" y="1679311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2"/>
          <p:cNvSpPr/>
          <p:nvPr/>
        </p:nvSpPr>
        <p:spPr>
          <a:xfrm>
            <a:off x="4572000" y="1679311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86350" y="1679311"/>
            <a:ext cx="360045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交易确认 (Tracking)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86350" y="1920413"/>
            <a:ext cx="360045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实时追踪交易从 Pending 到 Confirmed 的全生命周期状态变更。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0" y="2534776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9" name="Text 16"/>
          <p:cNvSpPr/>
          <p:nvPr/>
        </p:nvSpPr>
        <p:spPr>
          <a:xfrm>
            <a:off x="4572000" y="2534776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86350" y="2534776"/>
            <a:ext cx="360045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Event 监听 (Signals)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86350" y="2775877"/>
            <a:ext cx="360045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捕获智能合约抛出的业务信号，触发后端清分、对账与通知逻辑。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3390240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3" name="Text 20"/>
          <p:cNvSpPr/>
          <p:nvPr/>
        </p:nvSpPr>
        <p:spPr>
          <a:xfrm>
            <a:off x="4572000" y="3390240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86350" y="3390240"/>
            <a:ext cx="360045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不确定性挑战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86350" y="3631341"/>
            <a:ext cx="2228850" cy="1193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架构必须具备处理链分叉、区块重组与网络延迟的容错能力。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" y="1508760"/>
            <a:ext cx="4260850" cy="25565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655564" y="2214563"/>
            <a:ext cx="803672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84536" y="1364456"/>
            <a:ext cx="1080157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2DD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SIMULATING...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4572000" y="640091"/>
            <a:ext cx="4114800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交易模拟 (Simulate)：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Web3开发最容易忽略的能力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4572000" y="1588759"/>
            <a:ext cx="4114800" cy="800100"/>
          </a:xfrm>
          <a:prstGeom prst="rect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4572000" y="1588759"/>
            <a:ext cx="28575" cy="80010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9" name="Text 5"/>
          <p:cNvSpPr/>
          <p:nvPr/>
        </p:nvSpPr>
        <p:spPr>
          <a:xfrm>
            <a:off x="4743450" y="1760209"/>
            <a:ext cx="3771900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“如果解释不了一笔交易为什么失败，</a:t>
            </a:r>
            <a:endParaRPr lang="en-US" sz="1050" dirty="0">
              <a:solidFill>
                <a:srgbClr val="FFFFFF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那就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还不算真正理解 Web3。”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72025" y="2788909"/>
            <a:ext cx="3914775" cy="412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为什么要模拟：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在提交交易前验证执行结果，精准预测</a:t>
            </a: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交易结果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，避免不必要的资产损耗</a:t>
            </a:r>
            <a:r>
              <a:rPr lang="zh-CN" alt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，是交易可视化的非常重要的一环</a:t>
            </a:r>
            <a:r>
              <a:rPr lang="en-US" altLang="zh-CN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endParaRPr lang="en-US" altLang="zh-CN" sz="1050" dirty="0">
              <a:solidFill>
                <a:srgbClr val="E2E8F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72025" y="3417559"/>
            <a:ext cx="391477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风险防控：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未经模拟的交易可能导致资产被盗、逻辑归零或状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态不一致，是安全设计的第一道坎。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72025" y="4046209"/>
            <a:ext cx="391477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工程实践：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模拟是 Debug 的前置核心步骤，是构建高健壮性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支付系统的必然选择。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0055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13" name="Text 10"/>
          <p:cNvSpPr/>
          <p:nvPr/>
        </p:nvSpPr>
        <p:spPr>
          <a:xfrm>
            <a:off x="4572000" y="1090678"/>
            <a:ext cx="2960370" cy="309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Web3 </a:t>
            </a:r>
            <a:r>
              <a:rPr lang="en-US" altLang="zh-CN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Server</a:t>
            </a:r>
            <a:r>
              <a:rPr lang="zh-CN" alt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侧</a:t>
            </a:r>
            <a:r>
              <a:rPr lang="zh-CN" alt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钱包安全</a:t>
            </a:r>
            <a:endParaRPr lang="zh-CN" altLang="en-US" sz="2100" b="1" dirty="0">
              <a:solidFill>
                <a:srgbClr val="2DD4BF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0" y="1679311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2"/>
          <p:cNvSpPr/>
          <p:nvPr/>
        </p:nvSpPr>
        <p:spPr>
          <a:xfrm>
            <a:off x="4572000" y="1679311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86350" y="1679311"/>
            <a:ext cx="360045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权限拆分</a:t>
            </a:r>
            <a:endParaRPr lang="en-US" altLang="zh-CN" sz="11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86350" y="1920413"/>
            <a:ext cx="360045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MPC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，SAFE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等多签方案，以及资金量进一步拆分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等等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0" y="2534776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9" name="Text 16"/>
          <p:cNvSpPr/>
          <p:nvPr/>
        </p:nvSpPr>
        <p:spPr>
          <a:xfrm>
            <a:off x="4572000" y="2534776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86350" y="2534776"/>
            <a:ext cx="360045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完善的</a:t>
            </a:r>
            <a:r>
              <a:rPr lang="en-US" altLang="zh-CN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web2</a:t>
            </a: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安全流程</a:t>
            </a:r>
            <a:r>
              <a:rPr lang="en-US" altLang="zh-CN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+ </a:t>
            </a: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风控</a:t>
            </a:r>
            <a:r>
              <a:rPr lang="en-US" altLang="zh-CN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+ web3</a:t>
            </a: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规则</a:t>
            </a:r>
            <a:endParaRPr lang="zh-CN" altLang="en-US" sz="11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86350" y="2775877"/>
            <a:ext cx="360045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web2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流程不可或缺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特定场景下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还可以协助使用</a:t>
            </a:r>
            <a:r>
              <a:rPr lang="en-US" altLang="zh-CN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web3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相关能力进行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加固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0" y="3390240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3" name="Text 20"/>
          <p:cNvSpPr/>
          <p:nvPr/>
        </p:nvSpPr>
        <p:spPr>
          <a:xfrm>
            <a:off x="4572000" y="3390240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86350" y="3390240"/>
            <a:ext cx="360045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完善的交易可视化和</a:t>
            </a:r>
            <a:r>
              <a:rPr lang="zh-CN" alt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模拟</a:t>
            </a:r>
            <a:endParaRPr lang="zh-CN" altLang="en-US" sz="11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86350" y="3631341"/>
            <a:ext cx="577850" cy="99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只签名可信交易</a:t>
            </a:r>
            <a:endParaRPr lang="zh-CN" alt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" y="1176655"/>
            <a:ext cx="4177665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1148" y="800630"/>
            <a:ext cx="6021705" cy="3613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核心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结论</a:t>
            </a:r>
            <a:r>
              <a:rPr lang="en-US" altLang="zh-CN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：Web3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世界对安全的要求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很残酷</a:t>
            </a:r>
            <a:endParaRPr lang="zh-CN" altLang="en-US" sz="2450" b="1" dirty="0">
              <a:solidFill>
                <a:srgbClr val="2DD4BF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14400" y="1640718"/>
            <a:ext cx="3291818" cy="1632347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914400" y="1640718"/>
            <a:ext cx="3291818" cy="28575"/>
          </a:xfrm>
          <a:prstGeom prst="rect">
            <a:avLst/>
          </a:prstGeom>
          <a:solidFill>
            <a:srgbClr val="CBD5E0"/>
          </a:solidFill>
        </p:spPr>
      </p:sp>
      <p:sp>
        <p:nvSpPr>
          <p:cNvPr id="6" name="Text 3"/>
          <p:cNvSpPr/>
          <p:nvPr/>
        </p:nvSpPr>
        <p:spPr>
          <a:xfrm>
            <a:off x="1200150" y="1926468"/>
            <a:ext cx="2720318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Web2 支付系统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00150" y="2272940"/>
            <a:ext cx="2720318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出错通常是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系统问题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数据可回滚，状态可冲正，容错空间较大，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核心挑战在于高并发与可用性。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937782" y="1640718"/>
            <a:ext cx="3291818" cy="1632347"/>
          </a:xfrm>
          <a:prstGeom prst="rect">
            <a:avLst/>
          </a:prstGeom>
          <a:solidFill>
            <a:srgbClr val="2DD4BF">
              <a:alpha val="5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937782" y="1640718"/>
            <a:ext cx="3291818" cy="28575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0" name="Text 7"/>
          <p:cNvSpPr/>
          <p:nvPr/>
        </p:nvSpPr>
        <p:spPr>
          <a:xfrm>
            <a:off x="5223532" y="1940756"/>
            <a:ext cx="2720318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支付系统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23532" y="2287228"/>
            <a:ext cx="2720318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出错直接导致</a:t>
            </a:r>
            <a:r>
              <a:rPr lang="en-US" sz="10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资产损失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交易不可逆，漏洞即归零。容错成本极高，</a:t>
            </a:r>
            <a:r>
              <a:rPr lang="en-US" sz="10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核心挑战在于极度的工程严谨性。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687403"/>
            <a:ext cx="7315200" cy="64115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914400" y="3687403"/>
            <a:ext cx="7315200" cy="71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914400" y="3976725"/>
            <a:ext cx="7315200" cy="34825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“在 Web3 世界中，</a:t>
            </a:r>
            <a:r>
              <a:rPr lang="en-US" sz="1800" b="1" i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安全理解力</a:t>
            </a:r>
            <a:r>
              <a:rPr lang="en-US" sz="19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等于 </a:t>
            </a:r>
            <a:r>
              <a:rPr lang="en-US" sz="1800" b="1" i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资产保护力</a:t>
            </a:r>
            <a:r>
              <a:rPr lang="en-US" sz="19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。”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2"/>
          <p:cNvSpPr/>
          <p:nvPr/>
        </p:nvSpPr>
        <p:spPr>
          <a:xfrm>
            <a:off x="4356100" y="2196465"/>
            <a:ext cx="457263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时代的变与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不变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21619" y="2143125"/>
            <a:ext cx="1071563" cy="8572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4421" y="3679031"/>
            <a:ext cx="2045959" cy="28575"/>
          </a:xfrm>
          <a:prstGeom prst="rect">
            <a:avLst/>
          </a:prstGeom>
          <a:solidFill>
            <a:srgbClr val="2DD4BF">
              <a:alpha val="20000"/>
            </a:srgbClr>
          </a:solidFill>
        </p:spPr>
      </p:sp>
      <p:sp>
        <p:nvSpPr>
          <p:cNvPr id="6" name="Text 2"/>
          <p:cNvSpPr/>
          <p:nvPr/>
        </p:nvSpPr>
        <p:spPr>
          <a:xfrm>
            <a:off x="4572000" y="740522"/>
            <a:ext cx="4114800" cy="3600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改变了什么：效率革命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4572000" y="1443456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557756"/>
            <a:ext cx="128588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43500" y="1443456"/>
            <a:ext cx="35433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Coding 更快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43500" y="1732778"/>
            <a:ext cx="3543300" cy="127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从手动编写到 AI 辅助生成，多Agent编码框架已经能极大程度的减少人的精力消耗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4572000" y="2429963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69" y="2544263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43500" y="2429963"/>
            <a:ext cx="35433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学习更容易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143500" y="2719285"/>
            <a:ext cx="3543300" cy="127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知识获取门槛大幅降低，AI 成为全天候的技术导师，加速了跨领域技术的掌握。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572000" y="3416471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584" y="3530771"/>
            <a:ext cx="192881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3500" y="3416471"/>
            <a:ext cx="35433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基础的</a:t>
            </a: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自动化</a:t>
            </a:r>
            <a:r>
              <a:rPr lang="zh-CN" alt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能力</a:t>
            </a:r>
            <a:endParaRPr lang="zh-CN" altLang="en-US" sz="1200" dirty="0">
              <a:solidFill>
                <a:srgbClr val="FFFFFF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143500" y="3705792"/>
            <a:ext cx="3543300" cy="127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Agent 正在接管重复性的系统构建、基础架构部署与初步的代码审计任务。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5197" y="2143125"/>
            <a:ext cx="964406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76719" y="1435894"/>
            <a:ext cx="1161334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UNCHANGED CORE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572000" y="560505"/>
            <a:ext cx="4114800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没改变什么：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工程本质的坚守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4572000" y="1623473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8" name="Text 4"/>
          <p:cNvSpPr/>
          <p:nvPr/>
        </p:nvSpPr>
        <p:spPr>
          <a:xfrm>
            <a:off x="4572000" y="162347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86350" y="1623473"/>
            <a:ext cx="360045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系统复杂度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86350" y="1912795"/>
            <a:ext cx="36004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无法从根本上消除分布式系统的复杂性。它只是加速了代码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堆砌，而</a:t>
            </a:r>
            <a:r>
              <a:rPr lang="en-US" sz="9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架构设计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的严谨性依然是核心。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0" y="2609980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2" name="Text 8"/>
          <p:cNvSpPr/>
          <p:nvPr/>
        </p:nvSpPr>
        <p:spPr>
          <a:xfrm>
            <a:off x="4572000" y="2609980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86350" y="2609980"/>
            <a:ext cx="360045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错误成本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86350" y="2899302"/>
            <a:ext cx="36004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生成的错误代码同样会导致严重的资产损失。在 Web3 中，</a:t>
            </a:r>
            <a:r>
              <a:rPr lang="en-US" sz="9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容错空间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依然为零。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3596487"/>
            <a:ext cx="342900" cy="342900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6" name="Text 12"/>
          <p:cNvSpPr/>
          <p:nvPr/>
        </p:nvSpPr>
        <p:spPr>
          <a:xfrm>
            <a:off x="4572000" y="3596487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86350" y="3596487"/>
            <a:ext cx="360045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安全边界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86350" y="3885809"/>
            <a:ext cx="36004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最终的审核与责任始终在开发者手中。AI 是工具，而</a:t>
            </a:r>
            <a:r>
              <a:rPr lang="en-US" sz="9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系统掌控</a:t>
            </a:r>
            <a:r>
              <a:rPr lang="en-US" sz="9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力</a:t>
            </a:r>
            <a:r>
              <a:rPr lang="en-US" sz="9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是开发者的终极防线。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1380" y="416654"/>
            <a:ext cx="4841240" cy="3613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核心结论3：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人的价值</a:t>
            </a:r>
            <a:r>
              <a:rPr lang="en-US" altLang="zh-CN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，</a:t>
            </a:r>
            <a:r>
              <a:rPr lang="zh-CN" alt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在于驾驭</a:t>
            </a:r>
            <a:r>
              <a:rPr lang="en-US" altLang="zh-CN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</a:t>
            </a:r>
            <a:endParaRPr lang="en-US" altLang="zh-CN" sz="2450" b="1" dirty="0">
              <a:solidFill>
                <a:srgbClr val="2DD4BF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357313" y="1342467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28" y="1456767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85963" y="1285317"/>
            <a:ext cx="580072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是放大器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：它放大了开发者的架构思维与工程素养，而非取代人类的判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断。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357313" y="2142567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3" y="2256867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85963" y="2085417"/>
            <a:ext cx="580072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当代码编写变得廉价，对</a:t>
            </a: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系统全貌的洞察力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与全局掌控力将变得前所未有的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昂贵。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357313" y="2885517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181" y="2999817"/>
            <a:ext cx="214313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85963" y="2956954"/>
            <a:ext cx="570548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未来的核心竞争力在于：</a:t>
            </a: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驾驭 AI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，首先要成为系统底层逻辑的深度掌控者。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914400" y="4028517"/>
            <a:ext cx="7315200" cy="69830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Shape 8"/>
          <p:cNvSpPr/>
          <p:nvPr/>
        </p:nvSpPr>
        <p:spPr>
          <a:xfrm>
            <a:off x="914400" y="4028517"/>
            <a:ext cx="7315200" cy="7144"/>
          </a:xfrm>
          <a:prstGeom prst="rect">
            <a:avLst/>
          </a:prstGeom>
          <a:solidFill>
            <a:srgbClr val="C0F2EC"/>
          </a:solidFill>
        </p:spPr>
      </p:sp>
      <p:sp>
        <p:nvSpPr>
          <p:cNvPr id="15" name="Text 9"/>
          <p:cNvSpPr/>
          <p:nvPr/>
        </p:nvSpPr>
        <p:spPr>
          <a:xfrm>
            <a:off x="914400" y="4374989"/>
            <a:ext cx="7315200" cy="34825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“AI 让编码更简单，但让</a:t>
            </a:r>
            <a:r>
              <a:rPr lang="en-US" sz="1800" b="1" i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理解系统</a:t>
            </a:r>
            <a:r>
              <a:rPr lang="en-US" sz="19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更重要。”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5" name="Text 2"/>
          <p:cNvSpPr/>
          <p:nvPr/>
        </p:nvSpPr>
        <p:spPr>
          <a:xfrm>
            <a:off x="4356100" y="2196465"/>
            <a:ext cx="457263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时代</a:t>
            </a:r>
            <a:r>
              <a:rPr lang="en-US" altLang="zh-CN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，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架构师的能力</a:t>
            </a:r>
            <a:r>
              <a:rPr lang="zh-CN" altLang="en-US" sz="245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模型</a:t>
            </a:r>
            <a:endParaRPr lang="zh-CN" altLang="en-US" sz="2450" b="1" dirty="0">
              <a:solidFill>
                <a:srgbClr val="2DD4BF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Shape 1"/>
          <p:cNvSpPr/>
          <p:nvPr/>
        </p:nvSpPr>
        <p:spPr>
          <a:xfrm>
            <a:off x="1771650" y="1143000"/>
            <a:ext cx="571500" cy="571500"/>
          </a:xfrm>
          <a:prstGeom prst="rect">
            <a:avLst/>
          </a:prstGeom>
          <a:solidFill>
            <a:srgbClr val="2D3748"/>
          </a:solidFill>
          <a:ln w="18288">
            <a:solidFill>
              <a:srgbClr val="2DD4B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959" y="1343025"/>
            <a:ext cx="192881" cy="171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650" y="3429000"/>
            <a:ext cx="571500" cy="571500"/>
          </a:xfrm>
          <a:prstGeom prst="rect">
            <a:avLst/>
          </a:prstGeom>
          <a:solidFill>
            <a:srgbClr val="2D3748"/>
          </a:solidFill>
          <a:ln w="18288">
            <a:solidFill>
              <a:srgbClr val="2DD4B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3629025"/>
            <a:ext cx="171450" cy="1714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914650" y="3429000"/>
            <a:ext cx="571500" cy="571500"/>
          </a:xfrm>
          <a:prstGeom prst="rect">
            <a:avLst/>
          </a:prstGeom>
          <a:solidFill>
            <a:srgbClr val="2D3748"/>
          </a:solidFill>
          <a:ln w="18288">
            <a:solidFill>
              <a:srgbClr val="2DD4BF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3629025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11976" y="2455664"/>
            <a:ext cx="890848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ARCHITECT</a:t>
            </a:r>
            <a:r>
              <a:rPr lang="en-US" sz="7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700" b="1" dirty="0">
                <a:solidFill>
                  <a:srgbClr val="2DD4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MODEL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4572000" y="641877"/>
            <a:ext cx="4114800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架构师能力模型：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210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三位一体的进化</a:t>
            </a:r>
            <a:endParaRPr lang="en-US" sz="2100" dirty="0"/>
          </a:p>
        </p:txBody>
      </p:sp>
      <p:sp>
        <p:nvSpPr>
          <p:cNvPr id="12" name="Shape 6"/>
          <p:cNvSpPr/>
          <p:nvPr/>
        </p:nvSpPr>
        <p:spPr>
          <a:xfrm>
            <a:off x="4572000" y="1704845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819145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3500" y="1704845"/>
            <a:ext cx="35433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架构能力 (Architecture)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143500" y="1994167"/>
            <a:ext cx="354330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设计高可用、高安全的分布式系统，在去中心化与性能之间寻找最优解。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4572000" y="2637104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751404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43500" y="2637104"/>
            <a:ext cx="35433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Debug 能力 (Analysis)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143500" y="2926426"/>
            <a:ext cx="354330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能够深入底层协议，精准解释每一</a:t>
            </a:r>
            <a:r>
              <a:rPr lang="zh-CN" alt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个逻辑</a:t>
            </a: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背后的深层技术原因。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572000" y="3569364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016" y="3683664"/>
            <a:ext cx="150019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43500" y="3569364"/>
            <a:ext cx="354330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基础能力 (Fundamentals)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5143500" y="3858685"/>
            <a:ext cx="3543300" cy="119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对底层共识机制、密码学原理与链上状态模型拥有深刻且直觉化的理解。</a:t>
            </a:r>
            <a:endParaRPr lang="en-US" sz="650" dirty="0">
              <a:solidFill>
                <a:srgbClr val="CBD5E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86050" y="395222"/>
            <a:ext cx="3771900" cy="41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全场总结：回归工程常识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57313" y="1321036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1435336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85963" y="1263886"/>
            <a:ext cx="580072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不要被 AI 焦虑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：它是效率工具，无法替代</a:t>
            </a:r>
            <a:r>
              <a:rPr lang="zh-CN" alt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人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对复杂系统的深度洞察与关键决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策。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357313" y="2121136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3" y="2235436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85963" y="2063986"/>
            <a:ext cx="5800725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基础能力更重要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：理解协议、共识与安全边界将成为 Web3 时代的唯一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护城河。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357313" y="2921236"/>
            <a:ext cx="400050" cy="40005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897" y="3035536"/>
            <a:ext cx="192881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85963" y="2864086"/>
            <a:ext cx="580072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Web3 是系统工程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：它不仅是合约编写，更是对一致性、安全性与分布式协</a:t>
            </a:r>
            <a:r>
              <a:rPr lang="en-US" sz="12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作的极致追求。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914400" y="4007086"/>
            <a:ext cx="7315200" cy="741164"/>
          </a:xfrm>
          <a:prstGeom prst="rect">
            <a:avLst/>
          </a:prstGeom>
          <a:solidFill>
            <a:srgbClr val="2DD4BF">
              <a:alpha val="5000"/>
            </a:srgbClr>
          </a:solidFill>
          <a:ln w="9144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143000" y="4242829"/>
            <a:ext cx="6858000" cy="269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“驾驭技术变革，回归</a:t>
            </a:r>
            <a:r>
              <a:rPr lang="en-US" sz="1400" i="1" dirty="0">
                <a:solidFill>
                  <a:srgbClr val="2DD4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工程本质</a:t>
            </a:r>
            <a:r>
              <a:rPr lang="en-US" sz="1500" i="1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。”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4" name="Text 1"/>
          <p:cNvSpPr/>
          <p:nvPr/>
        </p:nvSpPr>
        <p:spPr>
          <a:xfrm>
            <a:off x="585433" y="2571889"/>
            <a:ext cx="2122170" cy="3765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D4BF">
                    <a:alpha val="8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Thanks For All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572000" y="1145149"/>
            <a:ext cx="4114800" cy="9601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驾驭 AI，</a:t>
            </a:r>
            <a:r>
              <a:rPr lang="en-US" sz="28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2850" b="1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而不是被 AI 驱动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4572000" y="2882140"/>
            <a:ext cx="4114800" cy="412750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成为能够掌控 AI、理解系统、</a:t>
            </a:r>
            <a:r>
              <a:rPr lang="zh-CN" alt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基础扎实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 Web3 架构师。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
</a:t>
            </a:r>
            <a:r>
              <a:rPr lang="en-US" sz="1050" dirty="0">
                <a:solidFill>
                  <a:srgbClr val="CBD5E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在变革中进化，在底层中深耕。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77535" y="3703320"/>
            <a:ext cx="2814955" cy="12655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X: @Tc9926271334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V: Web3SecTc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sym typeface="+mn-ea"/>
              </a:rPr>
              <a:t>Bilibili: Web3SecAnalysisT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Youtube: @Web3SecTc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4625</Words>
  <Application>WPS 演示</Application>
  <PresentationFormat>On-screen Show (16:9)</PresentationFormat>
  <Paragraphs>438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9" baseType="lpstr">
      <vt:lpstr>Arial</vt:lpstr>
      <vt:lpstr>宋体</vt:lpstr>
      <vt:lpstr>Wingdings</vt:lpstr>
      <vt:lpstr>Inter Bold</vt:lpstr>
      <vt:lpstr>Inter</vt:lpstr>
      <vt:lpstr>Inter Bold</vt:lpstr>
      <vt:lpstr>Inter Bold</vt:lpstr>
      <vt:lpstr>Inter Light</vt:lpstr>
      <vt:lpstr>Inter Light</vt:lpstr>
      <vt:lpstr>Inter Light</vt:lpstr>
      <vt:lpstr>monospace</vt:lpstr>
      <vt:lpstr>Euphorigenic</vt:lpstr>
      <vt:lpstr>monospace</vt:lpstr>
      <vt:lpstr>monospace</vt:lpstr>
      <vt:lpstr>Inter SemiBold</vt:lpstr>
      <vt:lpstr>Inter SemiBold</vt:lpstr>
      <vt:lpstr>Inter SemiBold</vt:lpstr>
      <vt:lpstr>Inter Medium</vt:lpstr>
      <vt:lpstr>Inter Medium</vt:lpstr>
      <vt:lpstr>Inter Medium</vt:lpstr>
      <vt:lpstr>Inter</vt:lpstr>
      <vt:lpstr>Inter</vt:lpstr>
      <vt:lpstr>Calibri</vt:lpstr>
      <vt:lpstr>微软雅黑</vt:lpstr>
      <vt:lpstr>Arial Unicode MS</vt:lpstr>
      <vt:lpstr>等线</vt:lpstr>
      <vt:lpstr>Montserrat Bold</vt:lpstr>
      <vt:lpstr>Montserrat Bold</vt:lpstr>
      <vt:lpstr>Montserrat Bold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WPS_1693578797</cp:lastModifiedBy>
  <cp:revision>152</cp:revision>
  <dcterms:created xsi:type="dcterms:W3CDTF">2026-05-18T13:42:00Z</dcterms:created>
  <dcterms:modified xsi:type="dcterms:W3CDTF">2026-05-18T13:55:31Z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9773D9C47F6DA72A177A086A84973846_43</vt:lpwstr>
  </property>
  <property fmtid="{D5CDD505-2E9C-101B-9397-08002B2CF9AE}" pid="3" name="KSOProductBuildVer">
    <vt:lpwstr>2052-12.1.0.19770</vt:lpwstr>
  </property>
</Properties>
</file>